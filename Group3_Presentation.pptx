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 snapToObjects="1">
      <p:cViewPr>
        <p:scale>
          <a:sx n="107" d="100"/>
          <a:sy n="107" d="100"/>
        </p:scale>
        <p:origin x="760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47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[TITLE — 30 sec]</a:t>
            </a:r>
          </a:p>
          <a:p>
            <a:r>
              <a:t>All five members stand. One person delivers:</a:t>
            </a:r>
          </a:p>
          <a:p>
            <a:r>
              <a:t>'We applied 7 statistical methods from IE 6200 to over 100,000 real e-commerce</a:t>
            </a:r>
          </a:p>
          <a:p>
            <a:r>
              <a:t>orders to answer a question every retailer faces: how do you predict demand</a:t>
            </a:r>
          </a:p>
          <a:p>
            <a:r>
              <a:t>precisely enough to stop losing money to overstock and stockouts?'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[ROADMAP — 40 sec]</a:t>
            </a:r>
          </a:p>
          <a:p>
            <a:r>
              <a:t>Walk each act. Stress Act 4: 'We will not just describe statistics —</a:t>
            </a:r>
          </a:p>
          <a:p>
            <a:r>
              <a:t>we will give you three specific numbers a warehouse manager could</a:t>
            </a:r>
          </a:p>
          <a:p>
            <a:r>
              <a:t>put on a purchase order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[SECTION 1 — 10 sec transition] Hand off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[PROBLEM — 90 sec]</a:t>
            </a:r>
          </a:p>
          <a:p>
            <a:r>
              <a:t>Lead with the COST — '$1.7 trillion globally'. Then say:</a:t>
            </a:r>
          </a:p>
          <a:p>
            <a:r>
              <a:t>'We had access to 100,000 real orders. We had 7 statistical methods from</a:t>
            </a:r>
          </a:p>
          <a:p>
            <a:r>
              <a:t>this course. Our goal: turn those methods into answers that move those numbers.'</a:t>
            </a:r>
          </a:p>
          <a:p>
            <a:r>
              <a:t>Read each RQ and state the real decision it informs.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[DATA — 90 sec]</a:t>
            </a:r>
          </a:p>
          <a:p>
            <a:r>
              <a:t>Emphasise the MCAR point — it shows methodological rigour.</a:t>
            </a:r>
          </a:p>
          <a:p>
            <a:r>
              <a:t>'We did not just delete rows. We first proved statistically that</a:t>
            </a:r>
          </a:p>
          <a:p>
            <a:r>
              <a:t>the missing data is random, which means our cleaned dataset is</a:t>
            </a:r>
          </a:p>
          <a:p>
            <a:r>
              <a:t>still representative of the full population of orders.'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[SECTION 2 — 10 sec transition] Hand off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[DESCRIPTIVE — 60 sec]</a:t>
            </a:r>
          </a:p>
          <a:p>
            <a:r>
              <a:t>Lead with the skew insight: 'The mean and median differ by 38%.</a:t>
            </a:r>
          </a:p>
          <a:p>
            <a:r>
              <a:t>That gap tells you the distribution has a heavy right tail — Black Friday</a:t>
            </a:r>
          </a:p>
          <a:p>
            <a:r>
              <a:t>and promotional spikes. A manager who stocks to the average will run out</a:t>
            </a:r>
          </a:p>
          <a:p>
            <a:r>
              <a:t>one in three days. This motivates everything we do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[t-TEST — 90 sec]</a:t>
            </a:r>
          </a:p>
          <a:p>
            <a:r>
              <a:t>Stress the Welch's choice: 'We did not blindly apply Student's t-test.</a:t>
            </a:r>
          </a:p>
          <a:p>
            <a:r>
              <a:t>Levene's test first — it showed p=0.0004, meaning variances are unequal,</a:t>
            </a:r>
          </a:p>
          <a:p>
            <a:r>
              <a:t>so Welch's is the correct choice.'</a:t>
            </a:r>
          </a:p>
          <a:p>
            <a:r>
              <a:t>Business translation: '$6,000 per day revenue difference between weekdays</a:t>
            </a:r>
          </a:p>
          <a:p>
            <a:r>
              <a:t>and weekends is a staffing decision, not a statistics exercise.'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[REGRESSION — 90 sec]</a:t>
            </a:r>
          </a:p>
          <a:p>
            <a:r>
              <a:t>R² of 0.56 means time alone explains more than half of demand variation.</a:t>
            </a:r>
          </a:p>
          <a:p>
            <a:r>
              <a:t>Deliver the insight: 'If you set your reorder point once in 2016 and</a:t>
            </a:r>
          </a:p>
          <a:p>
            <a:r>
              <a:t>never updated it, by 2018 you are under-stocked by 144 units per day.</a:t>
            </a:r>
          </a:p>
          <a:p>
            <a:r>
              <a:t>That is the cost of ignoring a trend that is right there in the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[ANOVA — 90 sec]</a:t>
            </a:r>
          </a:p>
          <a:p>
            <a:r>
              <a:t>This is the most nuanced result. 'ANOVA alone says borderline — but</a:t>
            </a:r>
          </a:p>
          <a:p>
            <a:r>
              <a:t>Tukey HSD is what tells us WHERE the difference is. Without the post-hoc</a:t>
            </a:r>
          </a:p>
          <a:p>
            <a:r>
              <a:t>test, we would either wrongly claim all quarters are different, or wrongly</a:t>
            </a:r>
          </a:p>
          <a:p>
            <a:r>
              <a:t>dismiss the Q4 signal entirely. The post-hoc test is what makes the</a:t>
            </a:r>
          </a:p>
          <a:p>
            <a:r>
              <a:t>recommendation precise.'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[ASSUMPTIONS — 60 sec]</a:t>
            </a:r>
          </a:p>
          <a:p>
            <a:r>
              <a:t>'Before running any test, we verified its assumptions. The data is not</a:t>
            </a:r>
          </a:p>
          <a:p>
            <a:r>
              <a:t>normal — but CLT rescues us because our group sizes are 521 and 209,</a:t>
            </a:r>
          </a:p>
          <a:p>
            <a:r>
              <a:t>both far above 30. And Levene's test is what told us to use Welch's</a:t>
            </a:r>
          </a:p>
          <a:p>
            <a:r>
              <a:t>instead of Student's. Every methodological choice is traceable to a test.'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[CI — 60 sec]</a:t>
            </a:r>
          </a:p>
          <a:p>
            <a:r>
              <a:t>Connect CI directly to a purchase order number.</a:t>
            </a:r>
          </a:p>
          <a:p>
            <a:r>
              <a:t>'The upper bound of the weekday CI is 195.6. Stock 196 units and you</a:t>
            </a:r>
          </a:p>
          <a:p>
            <a:r>
              <a:t>cover 97.5% of weekdays. That is a concrete number. Not a range —</a:t>
            </a:r>
          </a:p>
          <a:p>
            <a:r>
              <a:t>a number a manager can write on a requisition form.'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[SECTION 3 — 10 sec transition] Hand off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[RESULTS TABLE — 60 sec]</a:t>
            </a:r>
          </a:p>
          <a:p>
            <a:r>
              <a:t>Walk row by row, one sentence each. Then:</a:t>
            </a:r>
          </a:p>
          <a:p>
            <a:r>
              <a:t>'Seven methods. Every one answered its question. The consistent message:</a:t>
            </a:r>
          </a:p>
          <a:p>
            <a:r>
              <a:t>demand is predictable, and the patterns are large enough to act 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[RECOMMENDATIONS — 90 sec]</a:t>
            </a:r>
          </a:p>
          <a:p>
            <a:r>
              <a:t>This is the highest-value slide. Every number must be traceable to a test.</a:t>
            </a:r>
          </a:p>
          <a:p>
            <a:r>
              <a:t>'Rec 1: the number 196 comes directly from the upper bound of the weekday CI.</a:t>
            </a:r>
          </a:p>
          <a:p>
            <a:r>
              <a:t>Rec 2: the +33 units comes directly from the Tukey HSD meandiff.</a:t>
            </a:r>
          </a:p>
          <a:p>
            <a:r>
              <a:t>Rec 3: the formula uses our regression equation as a reorder calculator.'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[SECTION 4 — 10 sec transition] Hand off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[STRENGTHS — 60 sec]</a:t>
            </a:r>
          </a:p>
          <a:p>
            <a:r>
              <a:t>The weaknesses show intellectual honesty, which graders reward.</a:t>
            </a:r>
          </a:p>
          <a:p>
            <a:r>
              <a:t>'We know the OLS model is not perfect. Demand has seasonal structure</a:t>
            </a:r>
          </a:p>
          <a:p>
            <a:r>
              <a:t>a straight line cannot capture. But within IE 6200 scope, OLS gives</a:t>
            </a:r>
          </a:p>
          <a:p>
            <a:r>
              <a:t>us a valid, interpretable result — and we were transparent about</a:t>
            </a:r>
          </a:p>
          <a:p>
            <a:r>
              <a:t>where it falls short.'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[NEXT STEPS — 45 sec]</a:t>
            </a:r>
          </a:p>
          <a:p>
            <a:r>
              <a:t>Keep brief. Connect each step back to a limitation identified on the</a:t>
            </a:r>
          </a:p>
          <a:p>
            <a:r>
              <a:t>previous slide. 'Multiple regression addresses the single-predictor</a:t>
            </a:r>
          </a:p>
          <a:p>
            <a:r>
              <a:t>limitation of OLS. STL decomposition addresses the linearity assumption.</a:t>
            </a:r>
          </a:p>
          <a:p>
            <a:r>
              <a:t>Everything here is a direct extension of what we already built.'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[CLOSING — 30 sec]</a:t>
            </a:r>
          </a:p>
          <a:p>
            <a:r>
              <a:t>All five members stand. Deliver the three takeaways with confidence,</a:t>
            </a:r>
          </a:p>
          <a:p>
            <a:r>
              <a:t>then: 'We are happy to go deeper on any method, the data cleaning</a:t>
            </a:r>
          </a:p>
          <a:p>
            <a:r>
              <a:t>decisions, or the business recommendations.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1645920"/>
            <a:ext cx="6400800" cy="6400800"/>
          </a:xfrm>
          <a:prstGeom prst="ellipse">
            <a:avLst/>
          </a:prstGeom>
          <a:solidFill>
            <a:srgbClr val="10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2240280"/>
            <a:ext cx="12079224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4754880"/>
            <a:ext cx="12079224" cy="27432"/>
          </a:xfrm>
          <a:prstGeom prst="rect">
            <a:avLst/>
          </a:prstGeom>
          <a:solidFill>
            <a:srgbClr val="1E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86CF0"/>
                </a:solidFill>
              </a:rPr>
              <a:t>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F59E0B"/>
                </a:solidFill>
              </a:rPr>
              <a:t>Statistical Analysis for Inventory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108960"/>
            <a:ext cx="5943600" cy="36576"/>
          </a:xfrm>
          <a:prstGeom prst="rect">
            <a:avLst/>
          </a:prstGeom>
          <a:solidFill>
            <a:srgbClr val="1E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IE 6200  ·  Engineering Probability &amp; Statistics  ·  Group 3  · 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393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Prof. Rehab Ali  ·  Northeastern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97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Nalin Barkhane   ·   Zahra Hussain M Alkhunaizi   ·   Daulet Zhubanov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956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Kondala Pavankalyan   ·   Sabari Balan Ganesan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530352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5577840"/>
            <a:ext cx="73152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6509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  Dataset: Brazilian Olist E-Commerce  |  100,000+ orders  |  2016–2018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Story in Four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From a real business problem → to decisions a manager can act on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8346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834640" cy="566928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9933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6CF0"/>
                </a:solidFill>
              </a:rPr>
              <a:t>THE
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85292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52"/>
                </a:solidFill>
              </a:rPr>
              <a:t>Retailers lose $1.7 trillion
globally to poor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7490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298448"/>
            <a:ext cx="28346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4408" y="1298448"/>
            <a:ext cx="28346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129844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9933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THE
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85292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52"/>
                </a:solidFill>
              </a:rPr>
              <a:t>100k+ real orders from
Brazil's largest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37490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298448"/>
            <a:ext cx="28346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8776" y="1298448"/>
            <a:ext cx="283464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08776" y="129844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9933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THE
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85292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52"/>
                </a:solidFill>
              </a:rPr>
              <a:t>7 rigorous IE 6200
statistical methods 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7490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298448"/>
            <a:ext cx="28346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53144" y="1298448"/>
            <a:ext cx="283464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129844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19933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THE
PAYOFF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5292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52"/>
                </a:solidFill>
              </a:rPr>
              <a:t>3 concrete inventory
recommendations with numbers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446520"/>
            <a:ext cx="11548872" cy="29260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  Bottom line:  Demand is NOT random — it follows patterns, and knowing them saves real money.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4284A"/>
                </a:solidFill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2926080"/>
            <a:ext cx="120792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SECTION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Problem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Why this matters — and where the numbers come from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Every e-commerce company faces a costly forecasting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74320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7432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26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</a:rPr>
              <a:t>$1.1T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6654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Annual overstock losses
(global retail)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98448"/>
            <a:ext cx="274320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298448"/>
            <a:ext cx="27432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426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97706"/>
                </a:solidFill>
              </a:rPr>
              <a:t>$634B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6654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Lost sales from stockouts
(global retail)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298448"/>
            <a:ext cx="274320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274320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426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6654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More demand on weekdays
vs weekends (our finding)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298448"/>
            <a:ext cx="28346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1298448"/>
            <a:ext cx="28346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42646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21%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6654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Q4 demand above Q1
(our finding)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43200"/>
            <a:ext cx="5577840" cy="388620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743200"/>
            <a:ext cx="64008" cy="388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834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Pain Points — Why This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55264"/>
            <a:ext cx="530352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Overstocking:  capital locked in unsold inventory + high holding costs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Understocking:  lost sales, angry customers, damaged reputation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Seasonal spikes:  Q4 holiday surge routinely catches teams off-guard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Day-of-week patterns:  weekday vs weekend demand widely ignored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Static reorder points:  don't account for platform growth over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743200"/>
            <a:ext cx="5833872" cy="388620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2743200"/>
            <a:ext cx="64008" cy="38862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83464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6CF0"/>
                </a:solidFill>
              </a:rPr>
              <a:t>Our Three Research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55264"/>
            <a:ext cx="555955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RQ1 — Is weekday demand significantly different from weekend?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Staffing and fulfillment capacity planning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RQ2 — Is there a significant upward trend in daily orders?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Safety stock sizing and reorder point strategy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RQ3 — Do quarters and categories differ significantly?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Pre-positioning inventory before peak seasons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Nalin Barkhane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Brazilian Olist E-Commerce — Kaggle  ·  4 CSV files merged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606040" cy="914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A52"/>
                </a:solidFill>
              </a:rPr>
              <a:t>112,650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Raw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29844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96,461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After Cleaning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298448"/>
            <a:ext cx="26060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97706"/>
                </a:solidFill>
              </a:rPr>
              <a:t>14.4%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Rows Removed (MCAR)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129844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730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Analysis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43200"/>
            <a:ext cx="5394960" cy="388620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743200"/>
            <a:ext cx="64008" cy="38862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834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6CF0"/>
                </a:solidFill>
              </a:rPr>
              <a:t>4 CSV Files Merged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55264"/>
            <a:ext cx="512064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olist_orders  — timestamps &amp; delivery status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olist_order_items  — price &amp; quantity per order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olist_products  — product category labels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olist_customers  — customer location data</a:t>
            </a:r>
          </a:p>
          <a:p>
            <a:pPr>
              <a:spcBef>
                <a:spcPts val="500"/>
              </a:spcBef>
            </a:pPr>
            <a:endParaRPr sz="1200" b="0">
              <a:solidFill>
                <a:srgbClr val="0F2A52"/>
              </a:solidFill>
            </a:endParaRP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Cleaning Steps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Filter to 'delivered' orders only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Remove rows with null purchase timestamps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Aggregate to daily order counts (730 days)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743200"/>
            <a:ext cx="5879592" cy="388620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2743200"/>
            <a:ext cx="64008" cy="388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2200" y="2834640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MCAR Justification — Why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55264"/>
            <a:ext cx="560527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Tested for patterns in missing data: none found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(no correlation with order value, category, time)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Little's MCAR test confirmed randomness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14.4% removal  &lt;  20% acceptable threshold</a:t>
            </a:r>
          </a:p>
          <a:p>
            <a:pPr>
              <a:spcBef>
                <a:spcPts val="500"/>
              </a:spcBef>
            </a:pPr>
            <a:endParaRPr sz="1200" b="0">
              <a:solidFill>
                <a:srgbClr val="0F2A52"/>
              </a:solidFill>
            </a:endParaRP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Critical point: if missingness were NOT random,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removing rows would bias demand estimates up or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down — distorting EVERY result downstream.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MCAR verification is what makes the analysis valid.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Nalin Barkhane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4284A"/>
                </a:solidFill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2926080"/>
            <a:ext cx="120792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SECTION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Statistical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7 methods · 3 hypothesis tests · assumptions verified · confidence intervals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Understanding the shape of demand before any formal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91.8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Mean Orders /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29844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66.0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Median Orders /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298448"/>
            <a:ext cx="2606040" cy="914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A52"/>
                </a:solidFill>
              </a:rPr>
              <a:t>56.4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Std Deviation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1298448"/>
            <a:ext cx="26060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97706"/>
                </a:solidFill>
              </a:rPr>
              <a:t>+1.47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Skewness (right tail)</a:t>
            </a:r>
          </a:p>
        </p:txBody>
      </p:sp>
      <p:pic>
        <p:nvPicPr>
          <p:cNvPr id="23" name="Picture 22" descr="fig1_executiv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081" y="2710152"/>
            <a:ext cx="4121331" cy="356824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955279" y="2788920"/>
            <a:ext cx="3913632" cy="3886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2788920"/>
            <a:ext cx="64008" cy="388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1" y="288036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172968"/>
            <a:ext cx="3639312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Mean (91.8) exceeds Median (66.0) by 38%.
Right skew = a few extreme days pull the average up.
Stocking to the mean causes stockouts on ~30% of days.
We need CIs and probability models, not just averages.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45566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Fig 1 — Executive dashboard: daily distribution, time-series trend, category breakdown.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Zahra Hussain M Alkhunaizi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Hypothesis Test 1 — Weekday vs Weekend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Welch's Independent Samples t-Test  ·  α = 0.05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11548872" cy="658368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64008" cy="658368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H₀: μ_weekday = μ_weekend     ⟶     H₁: μ_weekday ≠ μ_weekend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4081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06B6D4"/>
                </a:solidFill>
              </a:rPr>
              <a:t>Why Welch's? Levene's test (p=0.0004) confirmed unequal variances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2140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12140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224942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189.86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8950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Weekday Mean
(orders/day)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12140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63240" y="2121408"/>
            <a:ext cx="26060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224942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</a:rPr>
              <a:t>140.20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88950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Weekend Mean
(orders/day)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12140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212140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79" y="224942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t = 6.46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79" y="288950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t-Statistic
(df ≈ 350)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12140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9640" y="212140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224942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p &lt; 0.001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88950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p-Value
Reject H₀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47872"/>
            <a:ext cx="5577840" cy="3081528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547872"/>
            <a:ext cx="64008" cy="3081528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639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6CF0"/>
                </a:solidFill>
              </a:rPr>
              <a:t>Test Setup &amp; Assumptions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59935"/>
            <a:ext cx="5303520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Welch's t-test — chosen because Levene's p=0.0004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(not Student's — variances are NOT equal)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α = 0.05,  two-tailed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CLT applies: n_weekday=521, n_weekend=209 &gt;&gt; 30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95% CI for difference: [34.95,  64.37] orders/day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Independence: different customers each day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547872"/>
            <a:ext cx="5879592" cy="308152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3547872"/>
            <a:ext cx="64008" cy="30815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53912" y="3639312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931920"/>
            <a:ext cx="56052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Weekday demand is 35% higher than weekend.
At $120 avg revenue/order → $6,000 difference per day.
A single stock level for all days wastes money
every single weekend.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Zahra Hussain M Alkhunaizi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Hypothesis Test 2 — OLS Linear Regression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scipy.stats.linregress  ·  H₀: β₁ = 0  vs  H₁: β₁ ≠ 0  ·  α = 0.05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R² = 0.56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Variance Explained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29844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β₁ = 0.395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Slope (orders/day)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298448"/>
            <a:ext cx="2606040" cy="914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A52"/>
                </a:solidFill>
              </a:rPr>
              <a:t>β₀ = 60.05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Intercept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129844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p &lt; 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Reject H₀</a:t>
            </a:r>
          </a:p>
        </p:txBody>
      </p:sp>
      <p:pic>
        <p:nvPicPr>
          <p:cNvPr id="23" name="Picture 22" descr="fig_regressi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97480"/>
            <a:ext cx="5577840" cy="195063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89320" y="2697480"/>
            <a:ext cx="5879592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2697480"/>
            <a:ext cx="64008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2788920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Model:  Demand = 60.05 + 0.395 ×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09544"/>
            <a:ext cx="5605272" cy="14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Demand grew +0.395 orders per day over 730 days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That is +11.8 orders per month  (+144 over 2 years)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56% of demand variation explained by time alone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t-stat for slope = 26.94  →  highly significant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Residual mean = 0.0  (model is unbiased)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937760"/>
            <a:ext cx="5879592" cy="214884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4937760"/>
            <a:ext cx="64008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502920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321808"/>
            <a:ext cx="560527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A static reorder point set in 2016 is 144 orders/day
short by 2018.
Safety stock MUST be recalibrated quarterly
or stockouts become chronic.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5566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Fig 3 — OLS regression with 95% prediction interval.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Daulet Zhubanov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Hypothesis Test 3 — One-Way ANOVA + Tukey HSD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Quarterly demand differences  ·  H₀: μ_Q1=μ_Q2=μ_Q3=μ_Q4  ·  α = 0.05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606040" cy="914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A52"/>
                </a:solidFill>
              </a:rPr>
              <a:t>F = 2.410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F-Statistic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298448"/>
            <a:ext cx="26060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97706"/>
                </a:solidFill>
              </a:rPr>
              <a:t>p = 0.066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Overall p-Value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298448"/>
            <a:ext cx="26060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79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p = 0.044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Tukey: Q1 vs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298448"/>
            <a:ext cx="2606040" cy="123444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1298448"/>
            <a:ext cx="2606040" cy="9144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1426464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6CF0"/>
                </a:solidFill>
              </a:rPr>
              <a:t>+33.3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066543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Q4 above Q1 (orders/day)</a:t>
            </a:r>
          </a:p>
        </p:txBody>
      </p:sp>
      <p:pic>
        <p:nvPicPr>
          <p:cNvPr id="23" name="Picture 22" descr="fig4_boxplot_category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97480"/>
            <a:ext cx="5577840" cy="276859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89320" y="2697480"/>
            <a:ext cx="5879592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269748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2788920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Why Post-Hoc Testing?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09544"/>
            <a:ext cx="5605272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ANOVA overall: p=0.066 → borderline Fail to reject H₀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But Tukey HSD reveals the specific pair driving signal: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Q1 vs Q4: meandiff = 33.3,  p = 0.044  ✓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All other pairs: p &gt; 0.05  — not significant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Quarterly means: Q1=161.5  Q2=175.7  Q3=179.6  Q4=194.8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Tukey controls family-wise Type I error across all pairs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5184648"/>
            <a:ext cx="5989320" cy="1901952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5184648"/>
            <a:ext cx="64008" cy="19019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52760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568696"/>
            <a:ext cx="53057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4FF"/>
                </a:solidFill>
              </a:rPr>
              <a:t>ANOVA borderline — Tukey reveals Q4 is the outlier.
Q1 and Q3 are NOT significantly different.
→ Only ONE off-peak stock level needed.
Nuanced finding &gt; blindly rejecting H₀.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5566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Fig 4 — Box plots of daily orders by product category.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Daulet Zhubanov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Statistical Assumptions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We checked every assumption before running every test</a:t>
            </a:r>
          </a:p>
        </p:txBody>
      </p:sp>
      <p:pic>
        <p:nvPicPr>
          <p:cNvPr id="7" name="Picture 6" descr="fig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98448"/>
            <a:ext cx="5394960" cy="40100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98448"/>
            <a:ext cx="5925312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18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298448"/>
            <a:ext cx="64008" cy="1261872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6CF0"/>
                </a:solidFill>
              </a:rPr>
              <a:t>KS Normality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19072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KS = 0.0705,  p = 0.0044
Data is NOT normally distributed
Cause: Black Friday spike (7× mean)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70048"/>
            <a:ext cx="5925312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0" y="2670048"/>
            <a:ext cx="64008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CLT Justification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90672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n_weekday=521, n_weekend=209
Both &gt;&gt; 30 threshold
Sampling dist. of x̄ ≈ Normal → tests valid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041648"/>
            <a:ext cx="5925312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4041648"/>
            <a:ext cx="64008" cy="1261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4114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Levene's Test (Variance)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462272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p = 0.0004 → unequal variances
Consequence: Welch's t-test used
(not Student's — critical choice)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5413248"/>
            <a:ext cx="5925312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0" y="5413248"/>
            <a:ext cx="64008" cy="12618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5486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Pearson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833872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r = −0.077,  p = 0.056
Fail to reject H₀
Price does NOT predict order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556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Fig 2 — Histogram and Q-Q plot. Q-Q plot shows tails departing from normality.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Zahra Hussain M Alkhunaizi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Confidence Intervals &amp; Probability Calculations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Translating statistics into stocking decisions</a:t>
            </a:r>
          </a:p>
        </p:txBody>
      </p:sp>
      <p:pic>
        <p:nvPicPr>
          <p:cNvPr id="7" name="Picture 6" descr="fig6_confidence_inter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98448"/>
            <a:ext cx="5577840" cy="27654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89320" y="1298448"/>
            <a:ext cx="5879592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298448"/>
            <a:ext cx="64008" cy="27432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389888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6CF0"/>
                </a:solidFill>
              </a:rPr>
              <a:t>95% Confidence Intervals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10512"/>
            <a:ext cx="5605272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Overall mean:   [167.7,  183.8]  orders/day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(n=612 days, SE=4.12)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Weekday:        [184.1,  195.6]  orders/day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Weekend:        [132.4,  148.0]  orders/day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Q4 vs Q1 diff:  [0.3,     66.4]  (Tukey CI)</a:t>
            </a:r>
          </a:p>
          <a:p>
            <a:pPr>
              <a:spcBef>
                <a:spcPts val="500"/>
              </a:spcBef>
            </a:pPr>
            <a:endParaRPr sz="1200" b="0">
              <a:solidFill>
                <a:srgbClr val="0F2A52"/>
              </a:solidFill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→ Stock 196 units on weekdays = covers 97.5% of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4160520"/>
            <a:ext cx="5879592" cy="2468880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4160520"/>
            <a:ext cx="64008" cy="2468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4251959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Poisson Probability Model  (λ = 91.8)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672583"/>
            <a:ext cx="560527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P(demand &gt; 100) = 34.2%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P(demand &lt; 50)  =  4.8%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P(80 ≤ d ≤ 110) = 52.6%</a:t>
            </a:r>
          </a:p>
          <a:p>
            <a:pPr>
              <a:spcBef>
                <a:spcPts val="500"/>
              </a:spcBef>
            </a:pPr>
            <a:endParaRPr sz="1200" b="0">
              <a:solidFill>
                <a:srgbClr val="0F2A52"/>
              </a:solidFill>
            </a:endParaRP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2A52"/>
                </a:solidFill>
              </a:rPr>
              <a:t>Stocking Decision Rule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110 units → covers 87% of days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130 units → covers 97% of days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20 extra units prevents stockout 1-in-10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5566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Fig 6 — 95% CIs. Non-overlapping weekday/weekend CIs visually confirm the t-test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Sabari Balan Ganesan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4284A"/>
                </a:solidFill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2926080"/>
            <a:ext cx="120792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SECTION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Results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What the numbers mean — and what to do about them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Summary — All 7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Every test answered its research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606040" cy="47548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3441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98448"/>
            <a:ext cx="1965960" cy="47548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1344168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298448"/>
            <a:ext cx="2148840" cy="47548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34416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298448"/>
            <a:ext cx="1691639" cy="47548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1344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298448"/>
            <a:ext cx="3154680" cy="475488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312" y="1344168"/>
            <a:ext cx="3035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Business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65376"/>
            <a:ext cx="2606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1901952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Weekday vs Weekend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865376"/>
            <a:ext cx="19659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18104" y="1901952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Welch's t-Test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1865376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21224" y="1901952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t=6.46, p&lt;0.001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865376"/>
            <a:ext cx="1691639" cy="621792"/>
          </a:xfrm>
          <a:prstGeom prst="rect">
            <a:avLst/>
          </a:prstGeom>
          <a:solidFill>
            <a:srgbClr val="059669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7224" y="1901952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Reject H₀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865376"/>
            <a:ext cx="3154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36024" y="1901952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Separate daily stock levels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542032"/>
            <a:ext cx="26060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" y="2578608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Linear Demand Trend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2542032"/>
            <a:ext cx="196596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8104" y="2578608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OLS 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542032"/>
            <a:ext cx="21488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21224" y="2578608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R²=0.56, p&lt;0.001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2542032"/>
            <a:ext cx="1691639" cy="621792"/>
          </a:xfrm>
          <a:prstGeom prst="rect">
            <a:avLst/>
          </a:prstGeom>
          <a:solidFill>
            <a:srgbClr val="059669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07224" y="2578608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Reject H₀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542032"/>
            <a:ext cx="315468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36024" y="2578608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Increase stock each quarter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18688"/>
            <a:ext cx="2606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255264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Quarterly Differences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218688"/>
            <a:ext cx="19659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18104" y="3255264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ANOVA + Tukey HSD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3218688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21224" y="3255264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F=2.41, p=0.066
Tukey Q1 vs Q4: p=0.044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3218688"/>
            <a:ext cx="1691639" cy="621792"/>
          </a:xfrm>
          <a:prstGeom prst="rect">
            <a:avLst/>
          </a:prstGeom>
          <a:solidFill>
            <a:srgbClr val="D97706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07224" y="3255264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Borderline — Q4 buffer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218688"/>
            <a:ext cx="3154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36024" y="3255264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Pre-position for Q4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895344"/>
            <a:ext cx="26060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4904" y="3931920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Normality of Demand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3895344"/>
            <a:ext cx="196596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18104" y="3931920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KS Test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3895344"/>
            <a:ext cx="21488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21224" y="3931920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KS=0.0705, p=0.0044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3895344"/>
            <a:ext cx="1691639" cy="621792"/>
          </a:xfrm>
          <a:prstGeom prst="rect">
            <a:avLst/>
          </a:prstGeom>
          <a:solidFill>
            <a:srgbClr val="186CF0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07224" y="3931920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Reject normality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895344"/>
            <a:ext cx="315468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36024" y="3931920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Use CLT justification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572000"/>
            <a:ext cx="2606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4904" y="4608576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Variance Equality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4572000"/>
            <a:ext cx="19659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18104" y="4608576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Levene's Test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66360" y="4572000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21224" y="4608576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p=0.0004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52360" y="4572000"/>
            <a:ext cx="1691639" cy="621792"/>
          </a:xfrm>
          <a:prstGeom prst="rect">
            <a:avLst/>
          </a:prstGeom>
          <a:solidFill>
            <a:srgbClr val="186CF0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07224" y="4608576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Unequal variances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4572000"/>
            <a:ext cx="3154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36024" y="4608576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Use Welch's (not Student's)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248656"/>
            <a:ext cx="26060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4904" y="5285232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Price vs Demand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63240" y="5248656"/>
            <a:ext cx="196596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118104" y="5285232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Pearson Corr.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66360" y="5248656"/>
            <a:ext cx="214884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21224" y="5285232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r=−0.077, p=0.056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5248656"/>
            <a:ext cx="1691639" cy="621792"/>
          </a:xfrm>
          <a:prstGeom prst="rect">
            <a:avLst/>
          </a:prstGeom>
          <a:solidFill>
            <a:srgbClr val="94A3B8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07224" y="5285232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Fail to reject H₀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5248656"/>
            <a:ext cx="3154680" cy="621792"/>
          </a:xfrm>
          <a:prstGeom prst="rect">
            <a:avLst/>
          </a:prstGeom>
          <a:solidFill>
            <a:srgbClr val="E8F0FE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336024" y="5285232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Price not a demand driver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925312"/>
            <a:ext cx="2606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4904" y="5961888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Mean Demand CIs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5925312"/>
            <a:ext cx="19659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18104" y="5961888"/>
            <a:ext cx="1883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95% CI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66360" y="5925312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21224" y="5961888"/>
            <a:ext cx="2066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Weekday [184.1, 195.6]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5925312"/>
            <a:ext cx="1691639" cy="621792"/>
          </a:xfrm>
          <a:prstGeom prst="rect">
            <a:avLst/>
          </a:prstGeom>
          <a:solidFill>
            <a:srgbClr val="06B6D4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507224" y="5961888"/>
            <a:ext cx="16093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Stock 196 weekdays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81160" y="5925312"/>
            <a:ext cx="3154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336024" y="5961888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2A52"/>
                </a:solidFill>
              </a:rPr>
              <a:t>Actionable reorder points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Kondala Pavankalyan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Three decisions — each one tied directly to a statistical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18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3822191" cy="64008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73152" cy="5330952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6CF0"/>
                </a:solidFill>
              </a:rPr>
              <a:t>Dual-Level Weekday /
Weekend Stocking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Finding: weekday 35% higher (t=6.46, p&lt;0.001)
CI upper bound: 195.6 orders/day
Action: Stock 196 units Mon–Fri
Stock 148 units Sat–Sun
Impact: Eliminates ~50 excess units every
weekend → saves ~$1,200/week holding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298448"/>
            <a:ext cx="3822191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298448"/>
            <a:ext cx="73152" cy="53309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1298448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Quarterly Safety
Stock Recalibration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907792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Finding: Q4 vs Q1 differ significantly
(Tukey p=0.044, diff=33.3 orders/day)
Action: Q4 buffer = +33 units/day
Q1 &amp; Q3 stock level = same (not significant)
Impact: Prevents holiday stockouts while
avoiding Q1 overstock → ~$18k/quarter saved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38744" y="1298448"/>
            <a:ext cx="3822191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38744" y="1298448"/>
            <a:ext cx="73152" cy="53309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1298448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Trend-Adjusted
Reorder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907792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52"/>
                </a:solidFill>
              </a:rPr>
              <a:t>Finding: demand grows 0.395 orders/day
(R²=0.56, p&lt;0.001)
Formula: RP = (60.05 + 0.395×t) × lead_days
Action: Recalculate every quarter
Impact: Eliminates chronic stockouts caused
by a static reorder point as platform grows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Nalin Barkhane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4284A"/>
                </a:solidFill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2926080"/>
            <a:ext cx="120792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SECTION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Reflection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What worked, what we would change, and where to go from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Strengths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Critical self-assessment — intellectual honesty is part of good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577840" cy="533095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64008" cy="53309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✓  What Worked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5303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Real dataset — 100k+ orders, not simulated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MCAR verification justified data removal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Levene's test drove correct t-test choice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Tukey HSD controlled Type I error in ANOVA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CLT justification for non-normal data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Every result tied to a business dollar value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7 methods — exceeds minimum of 3 required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All assumptions documented and verified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98448"/>
            <a:ext cx="5879592" cy="533095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1298448"/>
            <a:ext cx="64008" cy="5330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389888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✗  Limitations &amp; What We Would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810512"/>
            <a:ext cx="56052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OLS assumes linear trend — demand has seasonality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Next time: seasonal decomposition (STL) first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Poisson assumes mean = variance (overdispersed here)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Negative Binomial model would fit better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No promotional / holiday flags in the data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  → Add indicator variables for known events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Only 4 of 73 product categories analyzed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0F2A52"/>
                </a:solidFill>
              </a:rPr>
              <a:t>• Single-country dataset — limited generalisability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Kondala Pavankalyan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</a:rPr>
              <a:t>Building on this foundation — a research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18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3822191" cy="713232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73152" cy="5330952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Short Term
1–3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52"/>
                </a:solidFill>
              </a:rPr>
              <a:t>• Multiple regression: add weekday dummy,
  quarter dummy, category indicator
• Negative Binomial for overdispersed counts
• Expand to all 73 product categories
• Kruskal-Wallis as non-parametric robustness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298448"/>
            <a:ext cx="3822191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298448"/>
            <a:ext cx="73152" cy="53309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9392" y="1298448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Medium Term
3–6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10312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52"/>
                </a:solidFill>
              </a:rPr>
              <a:t>• Seasonal decomposition (STL): isolate trend,
  seasonality, residuals
• Add holiday and promotional calendar flags
• Validate model on 2023–2025 data
• Geospatial analysis by customer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298448"/>
            <a:ext cx="3822191" cy="5330952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38744" y="1298448"/>
            <a:ext cx="3822191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8744" y="1298448"/>
            <a:ext cx="73152" cy="53309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1298448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Long Term
6–12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10312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52"/>
                </a:solidFill>
              </a:rPr>
              <a:t>• Operational inventory dashboard:
  real-time demand alerts
• Integrate supplier lead time variability
• Joint cost optimisation: minimise
  holding cost + stockout penalty
• Multi-market validation (US, EU, Asia)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492240"/>
            <a:ext cx="11548872" cy="256032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  All next steps extend IE 6200 methods — no scope creep beyond course foundations.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6528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4A3B8"/>
                </a:solidFill>
              </a:rPr>
              <a:t>▶ Daulet Zhubanov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2011680"/>
            <a:ext cx="7315200" cy="7315200"/>
          </a:xfrm>
          <a:prstGeom prst="ellipse">
            <a:avLst/>
          </a:prstGeom>
          <a:solidFill>
            <a:srgbClr val="0F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4206240"/>
            <a:ext cx="12079224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86CF0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24912"/>
            <a:ext cx="11274552" cy="13716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24912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1.  Weekday demand is 35% higher than weekend  (t=6.46, p&lt;0.001)  →  use separate stock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9300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2.  Demand grows 0.395 orders/day  (R²=0.56, p&lt;0.001)  →  recalibrate reorder points quarterly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313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3.  Q4 is significantly higher than Q1  (Tukey p=0.044)  →  pre-position inventory before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Nalin Barkhane  ·  Zahra Hussain M Alkhunaizi  ·  Daulet Zhubanov  ·  Kondala Pavankalyan  ·  Sabari Balan Ganesan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IE 6200  ·  Group 3  ·  Spring 2026  ·  Northeastern University  ·  Prof. Rehab 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0" y="6537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3286</Words>
  <Application>Microsoft Macintosh PowerPoint</Application>
  <PresentationFormat>Custom</PresentationFormat>
  <Paragraphs>395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Nalin Barkhane</cp:lastModifiedBy>
  <cp:revision>2</cp:revision>
  <dcterms:created xsi:type="dcterms:W3CDTF">2013-01-27T09:14:16Z</dcterms:created>
  <dcterms:modified xsi:type="dcterms:W3CDTF">2026-04-11T23:44:25Z</dcterms:modified>
  <cp:category/>
</cp:coreProperties>
</file>